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2" d="100"/>
          <a:sy n="202" d="100"/>
        </p:scale>
        <p:origin x="19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661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74320"/>
            <a:ext cx="2148840" cy="42062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502920"/>
            <a:ext cx="2148840" cy="42062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274320"/>
            <a:ext cx="2148840" cy="42062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7" name="Shape 2"/>
          <p:cNvSpPr/>
          <p:nvPr/>
        </p:nvSpPr>
        <p:spPr>
          <a:xfrm>
            <a:off x="5303520" y="1062990"/>
            <a:ext cx="3657600" cy="3017520"/>
          </a:xfrm>
          <a:prstGeom prst="roundRect">
            <a:avLst>
              <a:gd name="adj" fmla="val 5455"/>
            </a:avLst>
          </a:prstGeom>
          <a:solidFill>
            <a:srgbClr val="FFFFFF">
              <a:alpha val="93000"/>
            </a:srgbClr>
          </a:solidFill>
          <a:ln w="19050">
            <a:solidFill>
              <a:srgbClr val="52B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3"/>
          <p:cNvSpPr/>
          <p:nvPr/>
        </p:nvSpPr>
        <p:spPr>
          <a:xfrm>
            <a:off x="5440680" y="1207008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kern="0" spc="400" dirty="0">
                <a:solidFill>
                  <a:srgbClr val="FFFFFF"/>
                </a:solidFill>
                <a:highlight>
                  <a:srgbClr val="0000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3200" dirty="0">
              <a:highlight>
                <a:srgbClr val="000000"/>
              </a:highlight>
            </a:endParaRPr>
          </a:p>
        </p:txBody>
      </p:sp>
      <p:sp>
        <p:nvSpPr>
          <p:cNvPr id="9" name="Text 4"/>
          <p:cNvSpPr/>
          <p:nvPr/>
        </p:nvSpPr>
        <p:spPr>
          <a:xfrm>
            <a:off x="5440680" y="169164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52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</a:t>
            </a:r>
            <a:endParaRPr lang="en-US" sz="3200" dirty="0"/>
          </a:p>
        </p:txBody>
      </p:sp>
      <p:sp>
        <p:nvSpPr>
          <p:cNvPr id="10" name="Shape 5"/>
          <p:cNvSpPr/>
          <p:nvPr/>
        </p:nvSpPr>
        <p:spPr>
          <a:xfrm>
            <a:off x="5367528" y="2368296"/>
            <a:ext cx="3108960" cy="36576"/>
          </a:xfrm>
          <a:prstGeom prst="rect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6"/>
          <p:cNvSpPr/>
          <p:nvPr/>
        </p:nvSpPr>
        <p:spPr>
          <a:xfrm>
            <a:off x="5440680" y="24871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UI Walkthrough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5440680" y="28712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v5.3  ·  Every screen explained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440680" y="3364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slides  ·  Real app screenshots  ·  May 2026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274320" y="47274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TechCompanion  ·  UI Walkthrough  ·  v5.3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TechCompanion Works — The Complete Flow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2608" y="960120"/>
            <a:ext cx="1371600" cy="1371600"/>
          </a:xfrm>
          <a:prstGeom prst="ellipse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92608" y="9601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</a:rPr>
              <a:t>⌕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46888" y="24231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Scan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682496" y="1655064"/>
            <a:ext cx="530352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938528" y="960120"/>
            <a:ext cx="1371600" cy="1371600"/>
          </a:xfrm>
          <a:prstGeom prst="ellipse">
            <a:avLst/>
          </a:prstGeom>
          <a:solidFill>
            <a:srgbClr val="1E579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938528" y="9601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</a:rPr>
              <a:t>🤖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92808" y="24231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28416" y="1655064"/>
            <a:ext cx="530352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584448" y="960120"/>
            <a:ext cx="1371600" cy="1371600"/>
          </a:xfrm>
          <a:prstGeom prst="ellipse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584448" y="9601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</a:rPr>
              <a:t>📋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38728" y="24231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74336" y="1655064"/>
            <a:ext cx="530352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230368" y="960120"/>
            <a:ext cx="1371600" cy="1371600"/>
          </a:xfrm>
          <a:prstGeom prst="ellipse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230368" y="9601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</a:rPr>
              <a:t>☑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184648" y="24231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20256" y="1655064"/>
            <a:ext cx="530352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876288" y="960120"/>
            <a:ext cx="1371600" cy="1371600"/>
          </a:xfrm>
          <a:prstGeom prst="ellipse">
            <a:avLst/>
          </a:prstGeom>
          <a:solidFill>
            <a:srgbClr val="22A86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876288" y="9601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</a:rPr>
              <a:t>✓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30568" y="24231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6888" y="306324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name, model, EAN barcode, or scan with camera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92808" y="306324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AI identifies the device and writes guides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38728" y="306324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guides returned: setup, config, maintenance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84648" y="306324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off steps one by one with live progress tracking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30568" y="306324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saved to library — revisit any time offline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315968"/>
            <a:ext cx="9144000" cy="822960"/>
          </a:xfrm>
          <a:prstGeom prst="rect">
            <a:avLst/>
          </a:prstGeom>
          <a:solidFill>
            <a:srgbClr val="EBF3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201168" y="4425696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52B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246888" y="442569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 ·  Claude Haiku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975104" y="4425696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52B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2020824" y="442569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(live % counter)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49040" y="4425696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52B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3794760" y="442569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Ghost-result validation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22976" y="4425696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52B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568696" y="442569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Auto-saves to Library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296912" y="4425696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52B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7342632" y="442569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after save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— Search  ·  The Starting Point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77240"/>
            <a:ext cx="2265625" cy="44348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926080" y="859536"/>
            <a:ext cx="329184" cy="329184"/>
          </a:xfrm>
          <a:prstGeom prst="ellipse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2926080" y="859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337560" y="85953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TECHCOMPANION Header + Live Clock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37560" y="113385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Orbitron monospace brand font. Clock updates every second showing hours, minutes, seconds, date and timezone. Theme toggle top right.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0" y="1609344"/>
            <a:ext cx="329184" cy="329184"/>
          </a:xfrm>
          <a:prstGeom prst="ellipse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926080" y="16093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37560" y="160934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Toggle — Device name / EAN barcode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37560" y="188366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the input method. 'Device name' is full text search. 'EAN barcode' opens numeric input with real-time GS1 checksum validation. Switching clears input and errors.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0" y="2359152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926080" y="23591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37560" y="235915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Input + Look up device button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37560" y="263347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device name or model number. The blue button only activates when text is present. The ◎ icon opens the Scanner tab.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26080" y="3108960"/>
            <a:ext cx="329184" cy="329184"/>
          </a:xfrm>
          <a:prstGeom prst="ellipse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2926080" y="3108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337560" y="31089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Chips — Gadgets and PC Components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37560" y="33832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Quick-launch buttons grouped by category. Tapping fires a real Claude AI lookup immediately without typing anything.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926080" y="3858768"/>
            <a:ext cx="329184" cy="329184"/>
          </a:xfrm>
          <a:prstGeom prst="ellipse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2926080" y="3858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337560" y="385876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Searches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337560" y="413308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8 successful lookups stored locally. Tap any chip to re-run the search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— EAN Barcode Mode  ·  Type or Paste a Barcode Number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77240"/>
            <a:ext cx="2265625" cy="44348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777240"/>
            <a:ext cx="2265625" cy="44348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256032" y="5047488"/>
            <a:ext cx="226562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 EAN-13 — Dyson brand confirmed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2697480" y="5047488"/>
            <a:ext cx="226562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user still typing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5120640" y="822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EAN Barcode Mode works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120640" y="1316736"/>
            <a:ext cx="329184" cy="329184"/>
          </a:xfrm>
          <a:prstGeom prst="ellipse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5120640" y="1316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532120" y="13167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GS1 checksum validation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532120" y="159105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keystroke runs the GS1 check digit algorithm. Invalid barcodes are flagged instantly — before a single API call is made.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120640" y="2103120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5120640" y="2103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532120" y="21031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detection + digit counter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53212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identifies EAN-8 (8 digits), UPC-A (12 digits), or EAN-13 (13 digits). Counter adjusts: 8/8, 12/12, or 13/13.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120640" y="2889504"/>
            <a:ext cx="329184" cy="329184"/>
          </a:xfrm>
          <a:prstGeom prst="ellipse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5120640" y="2889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532120" y="2889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hint pill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532120" y="316382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first 6–7 digits match a GS1 company prefix (e.g. Dyson, Apple, Sony), a pill appears naming the manufacturer before the search fires.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120640" y="3675888"/>
            <a:ext cx="329184" cy="329184"/>
          </a:xfrm>
          <a:prstGeom prst="ellipse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/>
          <p:nvPr/>
        </p:nvSpPr>
        <p:spPr>
          <a:xfrm>
            <a:off x="5120640" y="3675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532120" y="36758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button gated on valid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532120" y="395020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EAN button stays disabled until parseEANInput returns 'valid'. Impossible to send a malformed barcode to the API.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120640" y="4663440"/>
            <a:ext cx="3749040" cy="365760"/>
          </a:xfrm>
          <a:prstGeom prst="roundRect">
            <a:avLst>
              <a:gd name="adj" fmla="val 25000"/>
            </a:avLst>
          </a:prstGeom>
          <a:solidFill>
            <a:srgbClr val="E0F5F0"/>
          </a:solidFill>
          <a:ln w="6350">
            <a:solidFill>
              <a:srgbClr val="52B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2"/>
          <p:cNvSpPr/>
          <p:nvPr/>
        </p:nvSpPr>
        <p:spPr>
          <a:xfrm>
            <a:off x="5212080" y="4663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Formats: EAN-8  ·  UPC-A (auto-converted to EAN-13)  ·  EAN-13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579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— Loading  ·  Live AI Generation in Progress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77240"/>
            <a:ext cx="2265625" cy="44348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926080" y="859536"/>
            <a:ext cx="329184" cy="329184"/>
          </a:xfrm>
          <a:prstGeom prst="ellipse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2926080" y="859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337560" y="85953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name banner + Cancel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37560" y="113385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device being looked up in accent blue with a spinning indicator. A Cancel button aborts the stream at any point — the app returns cleanly to the search state.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0" y="1682496"/>
            <a:ext cx="329184" cy="329184"/>
          </a:xfrm>
          <a:prstGeom prst="ellipse">
            <a:avLst/>
          </a:prstGeom>
          <a:solidFill>
            <a:srgbClr val="1E579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926080" y="16824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37560" y="168249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Generating… % counter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37560" y="195681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Claude Haiku streams tokens back via SSE, the status message updates in real time. Users see 'Generating… 43%' counting up — not a frozen spinner.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0" y="2505456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926080" y="2505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37560" y="25054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shimmer placeholders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37560" y="277977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card and three guide card outlines pulse with a shimmer animation. Sets user expectation of what's coming — search result, not a generic loading screen.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26080" y="3328416"/>
            <a:ext cx="329184" cy="329184"/>
          </a:xfrm>
          <a:prstGeom prst="ellipse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2926080" y="33284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337560" y="332841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Reassurance at 6 seconds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37560" y="360273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response takes longer than 6 seconds (slow network, long product name), the message changes to 'Almost there…'. Fires well before users abandon.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926080" y="4315968"/>
            <a:ext cx="5760720" cy="402336"/>
          </a:xfrm>
          <a:prstGeom prst="roundRect">
            <a:avLst>
              <a:gd name="adj" fmla="val 22727"/>
            </a:avLst>
          </a:prstGeom>
          <a:solidFill>
            <a:srgbClr val="EBF3FA"/>
          </a:solidFill>
          <a:ln w="6350">
            <a:solidFill>
              <a:srgbClr val="52B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3017520" y="4315968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Haiku: ~200 tok/s  ·  Typical response: 2–4s  ·  max_tokens: 1024  ·  Streaming via Anthropic SSE API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— Results  ·  Product Card and Guides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77240"/>
            <a:ext cx="2265625" cy="44348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926080" y="859536"/>
            <a:ext cx="329184" cy="329184"/>
          </a:xfrm>
          <a:prstGeom prst="ellipse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2926080" y="859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337560" y="85953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37560" y="113385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name, model number (monospace), category and year. Colour-coded top border. Pulsing green 'Saved' dot confirms auto-save to Library.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0" y="1645920"/>
            <a:ext cx="329184" cy="329184"/>
          </a:xfrm>
          <a:prstGeom prst="ellipse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926080" y="1645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37560" y="16459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cards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37560" y="19202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guides with: emoji icon, title, difficulty badge (● Easy ◆ Medium ▲ Advanced), one-line summary, and step count + duration. Tap any to open.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0" y="2432304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926080" y="24323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37560" y="243230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badge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37560" y="270662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shows when confidence === 'exact' AND product.model is present. Claude omits model numbers when guessing — so this badge is a proxy for verified knowledge.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26080" y="3218688"/>
            <a:ext cx="329184" cy="329184"/>
          </a:xfrm>
          <a:prstGeom prst="ellipse">
            <a:avLst/>
          </a:prstGeom>
          <a:solidFill>
            <a:srgbClr val="C030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2926080" y="3218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337560" y="321868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device?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37560" y="349300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an incorrect result. Removes the library entry, clears product state, and returns to Search pre-filled with the original query for instant retry.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926080" y="4005072"/>
            <a:ext cx="329184" cy="329184"/>
          </a:xfrm>
          <a:prstGeom prst="ellipse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2926080" y="4005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337560" y="4005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 Library →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337560" y="427939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to the Library tab. The result persists — switching tabs and coming back keeps the product loaded.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4b — Results  ·  Amber Warning When AI Confidence Is Low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77240"/>
            <a:ext cx="2265625" cy="44348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926080" y="8046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Ghost-Result Prevention — G-04 and G-05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926080" y="122529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AI cannot verify a product with certainty, the app signals this honestly rather than showing false confidence.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26080" y="1792224"/>
            <a:ext cx="329184" cy="329184"/>
          </a:xfrm>
          <a:prstGeom prst="ellipse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2926080" y="1792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337560" y="179222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model number (G-04)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337560" y="206654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Claude guesses rather than recalls, it typically omits product.model. The badge gates on model being present — absent model means amber ⚠ badge.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926080" y="2615184"/>
            <a:ext cx="329184" cy="329184"/>
          </a:xfrm>
          <a:prstGeom prst="ellipse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2926080" y="26151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37560" y="261518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GS1 brand mismatch (G-05)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37560" y="288950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barcodes: if the GS1 prefix says 'Dyson' but Claude returns brand:'Sony', confidence is downgraded to 'unknown' automatically.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926080" y="3511296"/>
            <a:ext cx="5760720" cy="502920"/>
          </a:xfrm>
          <a:prstGeom prst="roundRect">
            <a:avLst>
              <a:gd name="adj" fmla="val 18182"/>
            </a:avLst>
          </a:prstGeom>
          <a:solidFill>
            <a:srgbClr val="FFFBEB"/>
          </a:solidFill>
          <a:ln w="6350">
            <a:solidFill>
              <a:srgbClr val="52B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3017520" y="3511296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Banner: "This product could not be verified. Please cross-check steps against the manufacturer's documentation."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926080" y="41148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are still shown — the user gets information with an honest signal about its reliability. The guides are not suppressed.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5 — Walkthrough  ·  Step-by-Step with Live Progress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77240"/>
            <a:ext cx="2265625" cy="44348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926080" y="859536"/>
            <a:ext cx="329184" cy="329184"/>
          </a:xfrm>
          <a:prstGeom prst="ellipse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2926080" y="859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337560" y="85953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 banner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37560" y="113385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to a partially done guide shows: 'Picking up where you left off — 3 of 5 done.' Progress saved in localStorage per product/guide pair.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0" y="1645920"/>
            <a:ext cx="329184" cy="329184"/>
          </a:xfrm>
          <a:prstGeom prst="ellipse">
            <a:avLst/>
          </a:prstGeom>
          <a:solidFill>
            <a:srgbClr val="1E579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926080" y="1645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37560" y="16459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header card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37560" y="19202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product, total duration, estimated time remaining, difficulty badge, live progress bar, and percentage. All update on every step tap without a page refresh.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0" y="2432304"/>
            <a:ext cx="329184" cy="329184"/>
          </a:xfrm>
          <a:prstGeom prst="ellipse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926080" y="24323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37560" y="243230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legend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37560" y="270662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Easy  ◆ Medium  ▲ Advanced shown as a colour-coded reference row below the header card. Consistent across all guides.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26080" y="3218688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2926080" y="3218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337560" y="321868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items — tap to toggle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37560" y="349300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step to tick or untick. Done steps: filled checkbox, strikethrough text, 45% opacity. Undone: open checkbox, full opacity. Haptic feedback on native.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926080" y="4005072"/>
            <a:ext cx="329184" cy="329184"/>
          </a:xfrm>
          <a:prstGeom prst="ellipse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2926080" y="4005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337560" y="4005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all done + Reset buttons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337560" y="427939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all done completes every step in one tap. Reset clears all ticks and localStorage progress for this guide.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5b — Walkthrough Complete  ·  Celebration Card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77240"/>
            <a:ext cx="2265625" cy="44348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926080" y="8046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Completion Experience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926080" y="122529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every step is ticked, the step list slides out and a completion card fades in.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26080" y="1719072"/>
            <a:ext cx="329184" cy="329184"/>
          </a:xfrm>
          <a:prstGeom prst="ellipse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2926080" y="1719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337560" y="1719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Celebration card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337560" y="199339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Teal-tinted full-width card with 🎉 emoji, 'All done!' headline, and the guide title. Animation: fadeIn 0.4s ease.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926080" y="2542032"/>
            <a:ext cx="329184" cy="329184"/>
          </a:xfrm>
          <a:prstGeom prst="ellipse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2926080" y="25420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37560" y="25420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Back button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37560" y="281635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the results screen showing all available guides for the same device. The user can immediately start another guide.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926080" y="3273552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2926080" y="3273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37560" y="327355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again button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337560" y="354787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all step checkboxes and clears localStorage progress for this guide. Lets the user walk through it a second time.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926080" y="4169664"/>
            <a:ext cx="5760720" cy="566928"/>
          </a:xfrm>
          <a:prstGeom prst="roundRect">
            <a:avLst>
              <a:gd name="adj" fmla="val 16129"/>
            </a:avLst>
          </a:prstGeom>
          <a:solidFill>
            <a:srgbClr val="E0F5F0"/>
          </a:solidFill>
          <a:ln w="6350">
            <a:solidFill>
              <a:srgbClr val="52B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017520" y="416966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is keyed by: product.name + guide.title. Each unique guide on each unique device has independent progress — opening a different guide starts fresh.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6 — Scanner  ·  Camera Scanning + Sample Barcodes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77240"/>
            <a:ext cx="2265625" cy="44348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926080" y="859536"/>
            <a:ext cx="329184" cy="329184"/>
          </a:xfrm>
          <a:prstGeom prst="ellipse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2926080" y="859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337560" y="85953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notice banner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37560" y="113385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camera requires the native app. Amber tone — informational, not an error. Tells the user exactly what to do next.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0" y="1609344"/>
            <a:ext cx="329184" cy="329184"/>
          </a:xfrm>
          <a:prstGeom prst="ellipse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926080" y="16093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37560" y="160934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QR mode tabs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37560" y="188366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the expected scan format. Barcode active by default. QR Code mode shows an informational message directing to the native app.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0" y="2359152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926080" y="23591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37560" y="235915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Viewfinder with corner guides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37560" y="263347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L-shaped corner brackets mark the scan zone. On native Android/iOS this is a live camera feed via Capacitor ML Kit supporting EAN, UPC, QR, Data Matrix.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26080" y="3108960"/>
            <a:ext cx="329184" cy="329184"/>
          </a:xfrm>
          <a:prstGeom prst="ellipse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2926080" y="3108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337560" y="31089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barcodes — real lookups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37560" y="33832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hardcoded barcodes trigger actual Claude AI lookups when tapped, complete with product name hints. Demonstrates the full barcode-to-guide flow without a camera.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926080" y="4224528"/>
            <a:ext cx="5760720" cy="402336"/>
          </a:xfrm>
          <a:prstGeom prst="roundRect">
            <a:avLst>
              <a:gd name="adj" fmla="val 22727"/>
            </a:avLst>
          </a:prstGeom>
          <a:solidFill>
            <a:srgbClr val="EBF3FA"/>
          </a:solidFill>
          <a:ln w="6350">
            <a:solidFill>
              <a:srgbClr val="52B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3017520" y="4224528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Native: Capacitor ML Kit  ·  EAN-13, UPC-A, EAN-8, QR Code, Data Matrix  ·  Haptic feedback on successful scan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7 — Library  ·  Auto-Saved Devices with Live Search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77240"/>
            <a:ext cx="2265625" cy="44348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777240"/>
            <a:ext cx="2265625" cy="44348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256032" y="5047488"/>
            <a:ext cx="226562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saved devices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2697480" y="5047488"/>
            <a:ext cx="226562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2B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'Sony'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5120640" y="859536"/>
            <a:ext cx="329184" cy="329184"/>
          </a:xfrm>
          <a:prstGeom prst="ellipse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5120640" y="859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532120" y="8595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on every lookup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532120" y="113385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successful AI lookup is saved automatically — no manual action needed. Organised into Gadgets &amp; Appliances and PC Components.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120640" y="1627632"/>
            <a:ext cx="329184" cy="329184"/>
          </a:xfrm>
          <a:prstGeom prst="ellipse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5120640" y="1627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32120" y="16276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left borders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532120" y="19019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has a left border in the brand's accent colour, matching the product card on Results. Makes entries instantly scannable at a glance.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120640" y="2395728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5120640" y="2395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32120" y="23957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532120" y="26700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to filter all sections simultaneously by name, brand, or category. Matching text is highlighted blue. Sections with no results disappear entirely.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120640" y="3163824"/>
            <a:ext cx="329184" cy="329184"/>
          </a:xfrm>
          <a:prstGeom prst="ellipse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5120640" y="3163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532120" y="31638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reopen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532120" y="343814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an entry loads the product and guides back to Results without a new API call. Tab navigation preserves the loaded state.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120640" y="3931920"/>
            <a:ext cx="329184" cy="329184"/>
          </a:xfrm>
          <a:prstGeom prst="ellipse">
            <a:avLst/>
          </a:prstGeom>
          <a:solidFill>
            <a:srgbClr val="C030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1"/>
          <p:cNvSpPr/>
          <p:nvPr/>
        </p:nvSpPr>
        <p:spPr>
          <a:xfrm>
            <a:off x="5120640" y="3931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532120" y="39319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clear confirmation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5532120" y="4206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removes one entry. 'Clear all' opens an inline confirmation card counting the devices and warning about walkthrough progress loss.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0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7b — Library  ·  Two-Step Destructive Action Safety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77240"/>
            <a:ext cx="2265625" cy="44348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926080" y="8046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BUG-02 Fix — Destructive Action Protection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926080" y="1225296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demo cleared all data in a single tap with no confirmation. A software testing audit caught this as a HIGH severity bug. The fix adds an inline two-step confirmation.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26080" y="2011680"/>
            <a:ext cx="329184" cy="329184"/>
          </a:xfrm>
          <a:prstGeom prst="ellipse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2926080" y="2011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337560" y="20116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Tap 'Clear all devices'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337560" y="22860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button does nothing destructive. It sets confirmClear:true and re-renders, replacing itself with a confirmation card.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926080" y="2798064"/>
            <a:ext cx="329184" cy="329184"/>
          </a:xfrm>
          <a:prstGeom prst="ellipse">
            <a:avLst/>
          </a:prstGeom>
          <a:solidFill>
            <a:srgbClr val="C030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2926080" y="27980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37560" y="279806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card content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37560" y="307238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exact device count, warning that walkthrough progress is also cleared, a full-width red confirm button, and an equal-size Cancel button.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926080" y="3584448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2926080" y="3584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37560" y="358444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is equal priority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337560" y="385876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buttons are the same width and height. The design intentionally does not funnel the user toward the destructive action.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926080" y="4389120"/>
            <a:ext cx="5760720" cy="50292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6350">
            <a:solidFill>
              <a:srgbClr val="52B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017520" y="438912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(confirmClear state + inline card) replaces the original window.confirm() which was blocked on iOS Safari and visually inconsistent with the app's design.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8 — Profile  ·  Usage Stats and Settings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77240"/>
            <a:ext cx="2265625" cy="44348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926080" y="859536"/>
            <a:ext cx="329184" cy="329184"/>
          </a:xfrm>
          <a:prstGeom prst="ellipse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2926080" y="859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337560" y="85953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Avatar + version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37560" y="113385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Rounded-rectangle avatar with TC initials in Orbitron. App version shown below the user label — updates automatically from the APP_VERSION constant.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0" y="1591056"/>
            <a:ext cx="329184" cy="329184"/>
          </a:xfrm>
          <a:prstGeom prst="ellipse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926080" y="1591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37560" y="15910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usage statistics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37560" y="186537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 cards: Devices (library size), Searches (history length), Guides (total across all saved entries). All update in real time as the user interacts.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0" y="2322576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926080" y="23225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37560" y="232257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row — tappable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37560" y="259689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Theme calls toggleTheme() — same function as the header button. Instant full-palette swap between Dark (#1C1E21) and Light (#EEF3F8).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26080" y="3054096"/>
            <a:ext cx="329184" cy="329184"/>
          </a:xfrm>
          <a:prstGeom prst="ellipse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2926080" y="30540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337560" y="305409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and Storage info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37560" y="332841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active Claude model (Haiku) and storage engine (localStorage). Reads from config — change the constant and it updates here automatically.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926080" y="3785616"/>
            <a:ext cx="329184" cy="329184"/>
          </a:xfrm>
          <a:prstGeom prst="ellipse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2926080" y="37856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337560" y="378561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number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337560" y="405993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current APP_VERSION constant. No manual maintenance needed — update the constant in source and the profile reflects it.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579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9 — Light Theme  ·  Complete Palette Swap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77240"/>
            <a:ext cx="2265625" cy="44348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926080" y="8046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complete colour systems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926080" y="12252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colour in the app is a theme token. Toggling swaps the entire palette in a single renderCurrent() call — no component re-architecture needed.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26080" y="1901952"/>
            <a:ext cx="1261872" cy="274320"/>
          </a:xfrm>
          <a:prstGeom prst="rect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2926080" y="190195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06240" y="1901952"/>
            <a:ext cx="2148840" cy="274320"/>
          </a:xfrm>
          <a:prstGeom prst="rect">
            <a:avLst/>
          </a:prstGeom>
          <a:solidFill>
            <a:srgbClr val="1C1E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206240" y="19019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Dark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73368" y="1901952"/>
            <a:ext cx="2148840" cy="274320"/>
          </a:xfrm>
          <a:prstGeom prst="rect">
            <a:avLst/>
          </a:prstGeom>
          <a:solidFill>
            <a:srgbClr val="1E579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373368" y="19019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Light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926080" y="2176272"/>
            <a:ext cx="5596128" cy="246888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971800" y="2176272"/>
            <a:ext cx="1216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206240" y="2176272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#1C1E21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73368" y="2176272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#EEF3F8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926080" y="2432304"/>
            <a:ext cx="5596128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2971800" y="2432304"/>
            <a:ext cx="1216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206240" y="2432304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#2C2F33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73368" y="2432304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926080" y="2688336"/>
            <a:ext cx="5596128" cy="246888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2971800" y="2688336"/>
            <a:ext cx="1216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206240" y="2688336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#52B7FF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73368" y="2688336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#0066BB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926080" y="2944368"/>
            <a:ext cx="5596128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2971800" y="2944368"/>
            <a:ext cx="1216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206240" y="2944368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#00E5C8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373368" y="2944368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#007A68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926080" y="3200400"/>
            <a:ext cx="5596128" cy="246888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2971800" y="3200400"/>
            <a:ext cx="1216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primary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206240" y="3200400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#F0F2F5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373368" y="3200400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#0A0F14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926080" y="3456432"/>
            <a:ext cx="5596128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2971800" y="3456432"/>
            <a:ext cx="12161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muted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206240" y="3456432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#9AA5B1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373368" y="3456432"/>
            <a:ext cx="2148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#1E3A4A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2926080" y="422452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preference saved to localStorage. Restored automatically on next open.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0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10 — Error Handling  ·  Clear Feedback, Not Dead Ends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77240"/>
            <a:ext cx="2265625" cy="443484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926080" y="859536"/>
            <a:ext cx="329184" cy="329184"/>
          </a:xfrm>
          <a:prstGeom prst="ellipse">
            <a:avLst/>
          </a:prstGeom>
          <a:solidFill>
            <a:srgbClr val="C030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2926080" y="859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337560" y="85953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error banner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337560" y="113385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shown in a red-tinted card with plain language. Message varies by error type: device not found, offline, rate-limited, or API error.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0" y="1627632"/>
            <a:ext cx="329184" cy="329184"/>
          </a:xfrm>
          <a:prstGeom prst="ellipse">
            <a:avLst/>
          </a:prstGeom>
          <a:solidFill>
            <a:srgbClr val="52B7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926080" y="1627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37560" y="16276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button inside the card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37560" y="190195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query is present, a Retry button sits inside the error card. One tap re-runs the same lookup without retyping.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0" y="2395728"/>
            <a:ext cx="329184" cy="329184"/>
          </a:xfrm>
          <a:prstGeom prst="ellipse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2926080" y="2395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37560" y="239572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Reformulation suggestions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37560" y="267004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'couldn't identify' errors, two alternative phrasings are generated automatically (e.g. 'xyzzy 9000 setup', 'xyzzy manual'). Tapping fires the lookup.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26080" y="3163824"/>
            <a:ext cx="329184" cy="329184"/>
          </a:xfrm>
          <a:prstGeom prst="ellipse">
            <a:avLst/>
          </a:prstGeom>
          <a:solidFill>
            <a:srgbClr val="1C2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2926080" y="3163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337560" y="316382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types handled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37560" y="343814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found: unknown device or not consumer/PC hardware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navigator.onLine check before every API call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Rate-limited: RATE_LIMITED action → upgrade card shown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error: message shown with retry option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926080" y="4078224"/>
            <a:ext cx="329184" cy="329184"/>
          </a:xfrm>
          <a:prstGeom prst="ellipse">
            <a:avLst/>
          </a:prstGeom>
          <a:solidFill>
            <a:srgbClr val="D4A85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2926080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337560" y="407822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Ghost-result validation errors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337560" y="435254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G-01/G-02: if the API returns an empty product name or guides with trivial steps, the error path fires — same as product not found.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0C8A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at a Glance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565" y="713232"/>
            <a:ext cx="934278" cy="182880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1494845" y="2578608"/>
            <a:ext cx="10257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283" y="713232"/>
            <a:ext cx="934278" cy="182880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2520563" y="2578608"/>
            <a:ext cx="10257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EAN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2002" y="713232"/>
            <a:ext cx="934278" cy="182880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3546282" y="2578608"/>
            <a:ext cx="10257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713232"/>
            <a:ext cx="934278" cy="182880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1" name="Text 5"/>
          <p:cNvSpPr/>
          <p:nvPr/>
        </p:nvSpPr>
        <p:spPr>
          <a:xfrm>
            <a:off x="4572000" y="2578608"/>
            <a:ext cx="10257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8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3438" y="713232"/>
            <a:ext cx="934278" cy="182880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3" name="Text 6"/>
          <p:cNvSpPr/>
          <p:nvPr/>
        </p:nvSpPr>
        <p:spPr>
          <a:xfrm>
            <a:off x="5597718" y="2578608"/>
            <a:ext cx="10257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9157" y="713232"/>
            <a:ext cx="934278" cy="182880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5" name="Text 7"/>
          <p:cNvSpPr/>
          <p:nvPr/>
        </p:nvSpPr>
        <p:spPr>
          <a:xfrm>
            <a:off x="6623437" y="2578608"/>
            <a:ext cx="10257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0565" y="3072384"/>
            <a:ext cx="934278" cy="182880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7" name="Text 8"/>
          <p:cNvSpPr/>
          <p:nvPr/>
        </p:nvSpPr>
        <p:spPr>
          <a:xfrm>
            <a:off x="1494845" y="4937760"/>
            <a:ext cx="10257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6283" y="3072384"/>
            <a:ext cx="934278" cy="182880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9" name="Text 9"/>
          <p:cNvSpPr/>
          <p:nvPr/>
        </p:nvSpPr>
        <p:spPr>
          <a:xfrm>
            <a:off x="2520563" y="4937760"/>
            <a:ext cx="10257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85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92002" y="3072384"/>
            <a:ext cx="934278" cy="182880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21" name="Text 10"/>
          <p:cNvSpPr/>
          <p:nvPr/>
        </p:nvSpPr>
        <p:spPr>
          <a:xfrm>
            <a:off x="3546282" y="4937760"/>
            <a:ext cx="10257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85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7720" y="3072384"/>
            <a:ext cx="934278" cy="182880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23" name="Text 11"/>
          <p:cNvSpPr/>
          <p:nvPr/>
        </p:nvSpPr>
        <p:spPr>
          <a:xfrm>
            <a:off x="4572000" y="4937760"/>
            <a:ext cx="10257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5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43438" y="3072384"/>
            <a:ext cx="934278" cy="182880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25" name="Text 12"/>
          <p:cNvSpPr/>
          <p:nvPr/>
        </p:nvSpPr>
        <p:spPr>
          <a:xfrm>
            <a:off x="5597718" y="4937760"/>
            <a:ext cx="10257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Stats</a:t>
            </a:r>
            <a:endParaRPr lang="en-US" sz="850" dirty="0"/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9157" y="3072384"/>
            <a:ext cx="934278" cy="1828800"/>
          </a:xfrm>
          <a:prstGeom prst="rect">
            <a:avLst/>
          </a:prstGeom>
          <a:effectLst>
            <a:outerShdw blurRad="177800" dist="63500" dir="87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27" name="Text 13"/>
          <p:cNvSpPr/>
          <p:nvPr/>
        </p:nvSpPr>
        <p:spPr>
          <a:xfrm>
            <a:off x="6623437" y="4937760"/>
            <a:ext cx="10257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850" dirty="0"/>
          </a:p>
        </p:txBody>
      </p:sp>
      <p:sp>
        <p:nvSpPr>
          <p:cNvPr id="28" name="Text 14"/>
          <p:cNvSpPr/>
          <p:nvPr/>
        </p:nvSpPr>
        <p:spPr>
          <a:xfrm>
            <a:off x="274320" y="47274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techcompanion-demo.html in Chrome to interact with every screen live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2233</Words>
  <Application>Microsoft Office PowerPoint</Application>
  <PresentationFormat>On-screen Show (16:9)</PresentationFormat>
  <Paragraphs>282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TechCompanion — App Walkthrough</dc:title>
  <dc:subject>PptxGenJS Presentation</dc:subject>
  <dc:creator>PptxGenJS</dc:creator>
  <cp:lastModifiedBy>lee holmes</cp:lastModifiedBy>
  <cp:revision>2</cp:revision>
  <dcterms:created xsi:type="dcterms:W3CDTF">2026-08-26T07:46:43Z</dcterms:created>
  <dcterms:modified xsi:type="dcterms:W3CDTF">2026-08-26T07:53:26Z</dcterms:modified>
</cp:coreProperties>
</file>